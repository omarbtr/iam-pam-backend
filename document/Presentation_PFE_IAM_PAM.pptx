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130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IAM &amp; PAM as a Service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9BD5"/>
                </a:solidFill>
              </a:rPr>
              <a:t>Plateforme SaaS de Gestion des Identités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5B9BD5"/>
                </a:solidFill>
              </a:rPr>
              <a:t>et des Accès Privilégiés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0" y="3474720"/>
            <a:ext cx="3657600" cy="4572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Projet de Fin d'Études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B9BD5"/>
                </a:solidFill>
              </a:rPr>
              <a:t>Janvier - Juin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Sommaire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</a:rPr>
              <a:t>1. Présentation de l'entreprise Next Step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</a:rPr>
              <a:t>2. Contexte et problématique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</a:rPr>
              <a:t>3. Objectifs du projet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</a:rPr>
              <a:t>4. Architecture technique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</a:rPr>
              <a:t>5. Technologies utilisées et justifications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</a:rPr>
              <a:t>6. Diagrammes UML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</a:rPr>
              <a:t>7. Planning - Diagramme de Gantt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</a:rPr>
              <a:t>8. Conclusion et perspectives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Présentation de l'entreprise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0AD47"/>
                </a:solidFill>
              </a:rPr>
              <a:t>NEXT STEP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Next Step - Vue d'ensemble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À propos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Next Step est une entreprise spécialisée en solutions IT innovantes, offrant des services de consulting, développement et intégration de systèmes pour les entreprises.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0" y="1097280"/>
            <a:ext cx="3657600" cy="3474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Domaines d'expertise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03520" y="201168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Cybersécurité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Cloud Computing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DevOps &amp; Automatisation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Architecture Microservices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Solutions SaaS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Contexte et Problématique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9BD5"/>
                </a:solidFill>
              </a:rPr>
              <a:t>Contexte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Les entreprises modernes font face à une complexité croissante dans la gestion de leurs systèmes d'information : infrastructure hybride (cloud + on-premise), multiplication des applications, et accès privilégiés non contrôlés.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Problématiques identifiées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Accès directs SSH/RDP non contrôlés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Comptes administrateurs partagés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Absence de traçabilité centralisée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Difficulté à respecter les exigences de conformité (ISO 27001, PCI-DSS)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Objectifs du Projet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9BD5"/>
                </a:solidFill>
              </a:rPr>
              <a:t>Objectif Principal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solidFill>
            <a:srgbClr val="70AD47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Concevoir et développer une plateforme SaaS multi-tenant de gestion centralisée des identités (IAM) et des accès privilégiés (PAM), garantissant sécurité, traçabilité et conformité réglementaire.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9BD5"/>
                </a:solidFill>
              </a:rPr>
              <a:t>Objectifs Spécifiques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Authentification centralisée (SSO + MFA)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Système RBAC granulaire par tenant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Bastion sécurisé pour accès SSH/RDP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Journalisation complète et audit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Déploiement conteneurisé (Docker/Kubernetes)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Architecture Technique Globale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59436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1234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Présentation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931920" y="1234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Application Web (Angular/React)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828800"/>
            <a:ext cx="0" cy="13716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1371600" y="1920240"/>
            <a:ext cx="6400800" cy="59436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Application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1965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Backend REST API (Spring Boot)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560320"/>
            <a:ext cx="0" cy="13716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371600" y="2651760"/>
            <a:ext cx="6400800" cy="59436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2697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Identité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2697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Keycloak (SSO, MFA, OAuth2)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3291840"/>
            <a:ext cx="0" cy="13716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371600" y="3383280"/>
            <a:ext cx="6400800" cy="59436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3429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3429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Bastion Linux (Proxy SSH/RDP)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4023360"/>
            <a:ext cx="0" cy="13716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371600" y="4114800"/>
            <a:ext cx="640080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1554480" y="4160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Données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31920" y="4160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PostgreSQL (Multi-tenant)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Technologies Utilisées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0AD47"/>
                </a:solidFill>
              </a:rPr>
              <a:t>et Justifications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Technologies IAM &amp; Authentification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000"/>
                </a:solidFill>
              </a:rPr>
              <a:t>Keycloak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✓ Solution IAM open-source mature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✓ Support natif OAuth2/OIDC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✓ Intégration LDAP/AD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✓ MFA intégré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9BD5"/>
                </a:solidFill>
              </a:rPr>
              <a:t>OAuth 2.0 / JWT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✓ Standards industriels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✓ Tokens stateless sécurisés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✓ Support des claims (RBAC)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✓ Interopérabilité garantie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</a:rPr>
              <a:t>Pourquoi pas d'autres solutions 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</a:rPr>
              <a:t>Auth0 / Okta : Solutions propriétaires coûteuses, vendor lock-in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</a:rPr>
              <a:t>Custom JWT from scratch : Réinventer la roue, risques sécurité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Technologies Backend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70AD47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AD47"/>
                </a:solidFill>
              </a:rPr>
              <a:t>Spring Boot 3.x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✓ Framework Java mature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✓ Spring Security intégré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✓ REST API robuste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✓ Écosystème riche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PostgreSQL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✓ SGBD robuste et fiable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✓ Support schémas multiples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✓ ACID compliant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✓ Performances excellentes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9BD5"/>
                </a:solidFill>
              </a:rPr>
              <a:t>Alternatives considérées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</a:rPr>
              <a:t>Node.js / Express : Moins adapté pour application enterprise critique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</a:rPr>
              <a:t>MongoDB : Base NoSQL non adaptée pour données relationnelles strictes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Frontend &amp; Infrastructure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9BD5"/>
                </a:solidFill>
              </a:rPr>
              <a:t>Angular / React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Framework SPA moderne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Composants réutilisables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UX fluide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9BD5"/>
                </a:solidFill>
              </a:rPr>
              <a:t>Docker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Conteneurisation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Portabilité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Isolation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56032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9BD5"/>
                </a:solidFill>
              </a:rPr>
              <a:t>Kubernetes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1645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Orchestration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Auto-scaling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Self-healing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Composant PAM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solidFill>
            <a:srgbClr val="C00000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290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Bastion Linux + OpenSSH : </a:t>
            </a:r>
            <a:r>
              <a:rPr lang="en-US" sz="1300" dirty="0">
                <a:solidFill>
                  <a:srgbClr val="2C3E50"/>
                </a:solidFill>
              </a:rPr>
              <a:t>Serveur durci pour proxy SSH/RDP, gestion sécurisée des clés, journalisation des sessions. Solution éprouvée et stable.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Diagramme de Cas d'Utilisation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9BD5"/>
                </a:solidFill>
              </a:rPr>
              <a:t>Principaux acteurs 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Utilisateur standard : Demander accès, consulter historique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Administrateur : Gérer utilisateurs, rôles, ressources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Auditeur : Consulter logs, générer rapports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Système Keycloak : Authentifier, autoriser</a:t>
            </a:r>
            <a:endParaRPr lang="en-US" sz="13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173" y="884797"/>
            <a:ext cx="3190940" cy="22726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</a:rPr>
              <a:t>Diagramme de Séquence - Authentification SSO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9BD5"/>
                </a:solidFill>
              </a:rPr>
              <a:t>Flux d'authentification 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1. Utilisateur → Application Web : Clic connexion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2. App → Keycloak : Redirection OAuth2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3. Keycloak → Utilisateur : Demande credentials + MFA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4. Keycloak → App : Code d'autorisation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5. App → Keycloak : Échange code contre JWT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6. App utilise JWT pour toutes les requêtes API</a:t>
            </a:r>
            <a:endParaRPr lang="en-US" sz="12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691" y="914400"/>
            <a:ext cx="3531474" cy="25152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Planning - Diagramme de Gantt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750" y="3667059"/>
            <a:ext cx="2560320" cy="1097280"/>
          </a:xfrm>
          <a:prstGeom prst="rect">
            <a:avLst/>
          </a:prstGeom>
          <a:solidFill>
            <a:srgbClr val="70AD47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06750" y="3849939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3E50"/>
                </a:solidFill>
              </a:rPr>
              <a:t>185 jours</a:t>
            </a:r>
            <a:endParaRPr lang="en-US" sz="2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C3E50"/>
                </a:solidFill>
              </a:rPr>
              <a:t>≈ 6 mois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41390" y="3667059"/>
            <a:ext cx="2560320" cy="1097280"/>
          </a:xfrm>
          <a:prstGeom prst="rect">
            <a:avLst/>
          </a:prstGeom>
          <a:solidFill>
            <a:srgbClr val="5B9BD5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41390" y="3849939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3E50"/>
                </a:solidFill>
              </a:rPr>
              <a:t>40 tâches</a:t>
            </a:r>
            <a:endParaRPr lang="en-US" sz="2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C3E50"/>
                </a:solidFill>
              </a:rPr>
              <a:t>8 catégories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076030" y="3667059"/>
            <a:ext cx="2560320" cy="1097280"/>
          </a:xfrm>
          <a:prstGeom prst="rect">
            <a:avLst/>
          </a:prstGeom>
          <a:solidFill>
            <a:srgbClr val="C00000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076030" y="3849939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3E50"/>
                </a:solidFill>
              </a:rPr>
              <a:t>7 jalons</a:t>
            </a:r>
            <a:endParaRPr lang="en-US" sz="2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C3E50"/>
                </a:solidFill>
              </a:rPr>
              <a:t>majeurs</a:t>
            </a:r>
            <a:endParaRPr lang="en-US" sz="2400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357" y="822960"/>
            <a:ext cx="3445262" cy="257671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Conclusion et Perspectives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0" y="1920240"/>
            <a:ext cx="3657600" cy="4572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2860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 Solution complète IAM + PAM intégrée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 Architecture moderne et scalable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 Sécurité et conformité garanties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 Technologies éprouvées et open-source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9BD5"/>
                </a:solidFill>
              </a:rPr>
              <a:t>Perspectives : Détection d'anomalies ML, Support protocoles additionnels, Intégration SIEM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Questions 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0AD47"/>
                </a:solidFill>
              </a:rPr>
              <a:t>Merci de votre attention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637</Words>
  <Application>Microsoft Office PowerPoint</Application>
  <PresentationFormat>Affichage à l'écran (16:9)</PresentationFormat>
  <Paragraphs>144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IAM &amp; PAM as a Service</dc:title>
  <dc:subject>Plateforme SaaS de Gestion des Identités et des Accès Privilégiés</dc:subject>
  <dc:creator>Étudiant PFE</dc:creator>
  <cp:lastModifiedBy>MSI</cp:lastModifiedBy>
  <cp:revision>3</cp:revision>
  <dcterms:created xsi:type="dcterms:W3CDTF">2026-01-29T10:52:51Z</dcterms:created>
  <dcterms:modified xsi:type="dcterms:W3CDTF">2026-02-02T10:57:37Z</dcterms:modified>
</cp:coreProperties>
</file>